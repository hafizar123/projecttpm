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274319"/>
            <a:ext cx="1645920" cy="1645920"/>
          </a:xfrm>
          <a:prstGeom prst="ellipse">
            <a:avLst/>
          </a:prstGeom>
          <a:solidFill>
            <a:srgbClr val="00909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4023360"/>
            <a:ext cx="2011680" cy="2011680"/>
          </a:xfrm>
          <a:prstGeom prst="ellipse">
            <a:avLst/>
          </a:prstGeom>
          <a:solidFill>
            <a:srgbClr val="00909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5760" y="5394960"/>
            <a:ext cx="1097280" cy="1097280"/>
          </a:xfrm>
          <a:prstGeom prst="ellipse">
            <a:avLst/>
          </a:prstGeom>
          <a:solidFill>
            <a:srgbClr val="00909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Bersih.In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8C9B0"/>
                </a:solidFill>
              </a:rPr>
              <a:t>Your Clean Space, Perfected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337560"/>
            <a:ext cx="521208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20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Aplikasi Layanan Kebersihan &amp; Perawatan Hunian Berbasis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8C9B0"/>
                </a:solidFill>
              </a:rPr>
              <a:t>Akmal Danendra Maulana  (123230135)   •   Hafiz Alaudin Rasendriya  (123230149)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Teknologi Pemrograman Mobile  • 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Latar Belakang &amp; Deskripsi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Mengapa Bersih.In dibangun?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228600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5955"/>
                </a:solidFill>
              </a:rPr>
              <a:t>❌  Masalah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Sulit menemukan jasa kebersihan profesional yang terpercaya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Tidak ada transparansi harga &amp; status pengerjaan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Tidak ada platform terintegrasi untuk berbagai layanan hunian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Pengguna kesulitan menjadwal &amp; memantau teknisi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394960" cy="228600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5955"/>
                </a:solidFill>
              </a:rPr>
              <a:t>✅  Solusi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Platform mobile yang menghubungkan pengguna &amp; teknisi terverifikasi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Pemesanan mudah dengan pilihan jadwal &amp; alamat GPS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Transparansi harga &amp; tracking status real-time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Didukung AI assistant &amp; rekomendasi layanan cerdas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11247120" cy="233172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5955"/>
                </a:solidFill>
              </a:rPr>
              <a:t>Tentang Bersih.In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07408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Bersih.In adalah aplikasi layanan kebersihan dan perawatan hunian berbasis mobile yang beroperasi di Yogyakarta. Platform ini menyediakan 8 kategori layanan — mulai dari Reguler Cleaning, Deep Cleaning, Service AC, Cuci Kasur, hingga Pijat Relaksasi — dengan sistem pemesanan terintegrasi, pembayaran multi-metode, dan manajemen karyawan otomatis.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Teknologi yang digunakan dalam pembangunan Bersih.In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749039" cy="475488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5955"/>
                </a:solidFill>
              </a:rPr>
              <a:t>📱 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3383280" cy="4572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Flutter (Dart)  —  UI cross-platform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Hive  —  local key-value storage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SharedPreferences  —  session &amp; settings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flutter_local_notifications  —  push notif lokal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sensors_plus  —  gyroscope &amp; akselerometer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google_fonts / Google Generative AI SDK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749039" cy="475488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09E"/>
                </a:solidFill>
              </a:rPr>
              <a:t>⚙️ 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965960"/>
            <a:ext cx="3383280" cy="45720"/>
          </a:xfrm>
          <a:prstGeom prst="rect">
            <a:avLst/>
          </a:prstGeom>
          <a:solidFill>
            <a:srgbClr val="00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10312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Node.js + Express.js  —  REST API server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MySQL 8  —  relational database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mysql2  —  driver koneksi DB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bcryptjs  —  hash password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jsonwebtoken  —  autentikasi JWT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dotenv  —  environment 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749039" cy="475488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🔌  Layanan Eksternal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965960"/>
            <a:ext cx="338328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0312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Google Gemini API  —  AI chatbot assistant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open.er-api.com  —  live exchange rates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OpenStreetMap + Nominatim  —  peta &amp; geocoding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flutter_map + latlong2  —  rendering peta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local_auth  —  biometrik sidik jari/wajah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▸  image_picker  —  pilih foto profil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Arsitektur MVC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Model – View – 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920240" cy="7498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5955"/>
                </a:solidFill>
              </a:rP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25955"/>
                </a:solidFill>
              </a:rPr>
              <a:t>lib/views/
lib/widgets/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17647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508760"/>
            <a:ext cx="1920240" cy="749808"/>
          </a:xfrm>
          <a:prstGeom prst="rect">
            <a:avLst/>
          </a:prstGeom>
          <a:solidFill>
            <a:srgbClr val="00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5819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189280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lib/controllers/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7647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0016" y="1508760"/>
            <a:ext cx="1920240" cy="749808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5819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189280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lib/models/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17647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21424" y="1508760"/>
            <a:ext cx="1920240" cy="7498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15819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89280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lib/services/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6" y="176479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2832" y="1508760"/>
            <a:ext cx="1920240" cy="74980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15819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89280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Node.js + MySQL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04872"/>
            <a:ext cx="19202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496312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Tampilan UI Flutter. Menerima input pengguna,
menampilkan data, tidak mengandung logika bisnis.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8608" y="2404872"/>
            <a:ext cx="19202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0048" y="2496312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Jembatan View–Model. Memproses input, memanggil
Service, dan memperbarui state yang ditampilkan 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0016" y="2404872"/>
            <a:ext cx="19202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2496312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Representasi data: UserModel, OrderModel,
AddressModel. Bertugas mapping JSON dari API.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1424" y="2404872"/>
            <a:ext cx="19202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496312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Komunikasi ke backend (HTTP), biometrik, notifikasi,
AI, rekomendasi, dan konversi mata uang.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2832" y="2404872"/>
            <a:ext cx="19202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4272" y="2496312"/>
            <a:ext cx="1783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REST API Express.js. Validasi, hash password,
query DB, auto-assign karyawan, live exchange rates.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68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Struktur Folder Flutter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6072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lib/
  controllers/   ← AuthController
  models/        ← UserModel, OrderModel, AddressModel
  services/      ← AuthService, AiService, CurrencyService…
  views/         ← auth/, home/, order/, profile/, support/…
  widgets/       ← CustomNavBar, HomeCarousel, SmartRecommendation…
  main.dart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Struktur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MySQL — 9 tabel utama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38528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011680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email, username, password, avatar_url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6002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1938528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011680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nama, username, email, password, no_hp, is_active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6002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9327" y="1938528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2011680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user_email, service_name, total_amount, currency,
total_converted, payment_method, va_number, qris_url,
address, schedule_date, schedule_time, employee_id,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2918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saved_addresses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630168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703320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username, address, lat, lng, house_type, description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20040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2918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3630168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703320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user_email, sender, message,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20040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329184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employee_chats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39327" y="3630168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3703320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order_id, sender_role, sender_id, message,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9204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9834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order_reviews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" y="5321807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394959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order_id, user_email, rating, review, created_at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89204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8" y="49834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evaluations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7408" y="5321807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8" y="5394959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email, rating, kesan, saran,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892040"/>
            <a:ext cx="374903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49834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reports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9327" y="5321807"/>
            <a:ext cx="329184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5394959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id, order_id, user_email, description, image_base64, 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5955"/>
                </a:solidFill>
              </a:rPr>
              <a:t>Relasi Utama: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6294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</a:rPr>
              <a:t>orders.user_email → profiles.email   |   orders.employee_id → employees.id   |   order_reviews.order_id → orders.id   |   reports.order_id → orders.id   |   employee_chats.order_id → orders.id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Fitur Autentikasi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Login, Register, Biometrik, Multi-Role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42062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5955"/>
                </a:solidFill>
              </a:rPr>
              <a:t>📝 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05740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Input email, username, password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Password di-hash dengan bcryptjs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Validasi di server sebelum simpan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63040"/>
            <a:ext cx="2651760" cy="42062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5955"/>
                </a:solidFill>
              </a:rPr>
              <a:t>🔑  Login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05740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Support email ATAU username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JWT token, berlaku 1 jam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Role detection: user / karyawan /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42062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5955"/>
                </a:solidFill>
              </a:rPr>
              <a:t>🪪  Login Biometrik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05740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Sidik jari atau pengenalan wajah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Isolasi per-akun (multi-akun support)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Dialog pilih akun jika &gt;1 terdaftar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463040"/>
            <a:ext cx="2651760" cy="42062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5955"/>
                </a:solidFill>
              </a:rPr>
              <a:t>👤  Multi-Role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6567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205740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User: pesan &amp; pantau layanan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Karyawan: terima &amp; update order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Admin: dashboard &amp; manajemen penuh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Alur Autentikasi: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09E"/>
                </a:solidFill>
              </a:rPr>
              <a:t>Buka App  →  Cek Session  →  Login / Biometrik  →  Role Check  →  Dashboard sesuai 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Fitur Pemesanan Layanan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8 Layanan • GPS Address • Penjadwalan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Pemanas 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100k – 250k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50876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6002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Reguler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80k – 280k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002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Cuci Kendaraan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25k – 120k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50876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🛏️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6002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Cuci Kasur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19659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150k – 300k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2880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8803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Deep Cleaning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350k – 950k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78892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2880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8803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Pijat Relaksasi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100k – 200k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78892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2880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❄️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8803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Service 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100k – 400k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2788920"/>
            <a:ext cx="2560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9408" y="2880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2E"/>
                </a:solidFill>
              </a:rPr>
              <a:t>🛋️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28803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5955"/>
                </a:solidFill>
              </a:rPr>
              <a:t>Cuci Sofa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324612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</a:rPr>
              <a:t>Rp 120k – 350k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5955"/>
                </a:solidFill>
              </a:rPr>
              <a:t>Alur Pemesanan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72000"/>
            <a:ext cx="1783080" cy="64008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64515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① Pilih Layanan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472744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4572000"/>
            <a:ext cx="1783080" cy="640080"/>
          </a:xfrm>
          <a:prstGeom prst="rect">
            <a:avLst/>
          </a:prstGeom>
          <a:solidFill>
            <a:srgbClr val="00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464515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② Login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472744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572000"/>
            <a:ext cx="1783080" cy="64008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464515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③ Pilih / Tambah Alamat (GPS)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472744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72000"/>
            <a:ext cx="1783080" cy="640080"/>
          </a:xfrm>
          <a:prstGeom prst="rect">
            <a:avLst/>
          </a:prstGeom>
          <a:solidFill>
            <a:srgbClr val="00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464515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④ Pilih Paket &amp; Jadwal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472744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4572000"/>
            <a:ext cx="1783080" cy="64008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464515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⑤ Pilih Pembayaran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9800" y="472744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0" y="4572000"/>
            <a:ext cx="1783080" cy="640080"/>
          </a:xfrm>
          <a:prstGeom prst="rect">
            <a:avLst/>
          </a:prstGeom>
          <a:solidFill>
            <a:srgbClr val="00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12680" y="464515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⑥ Konfirmasi Bayar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5349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Catatan: Jadwal dipilih min. 1 jam ke depan  •  Jam operasional 07:00–21:00 WIB  •  Teknisi datang sesuai jadwal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Fitur Pembayaran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Multi-Metode • Kurs Live • Auto-Cancel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470916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💳  QRIS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47672"/>
            <a:ext cx="2286000" cy="4572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05740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GoPay, Dana, OVO, ShopeePay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Tampil QR Code di aplikasi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Konfirmasi manual oleh 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63040"/>
            <a:ext cx="2651760" cy="470916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09E"/>
                </a:solidFill>
              </a:rPr>
              <a:t>🏦  Virtual 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947672"/>
            <a:ext cx="2286000" cy="45720"/>
          </a:xfrm>
          <a:prstGeom prst="rect">
            <a:avLst/>
          </a:prstGeom>
          <a:solidFill>
            <a:srgbClr val="00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05740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BCA, Mandiri, BNI, BRI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Nomor VA unik per transaksi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Instruksi transfer ditampilkan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470916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🌍  Bank Internasional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947672"/>
            <a:ext cx="22860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05740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Bank of China  (CNY — Yuan)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United Overseas Bank  (SGD)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Saudi National Bank  (SAR — Riyal)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Kurs live dari open.er-api.com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Cache 1 jam, fallback hardcoded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463040"/>
            <a:ext cx="2651760" cy="470916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</a:rPr>
              <a:t>⏱️  Auto-Cancel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6567" y="1947672"/>
            <a:ext cx="2286000" cy="457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2057400"/>
            <a:ext cx="2423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Countdown 30 menit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Notifikasi peringatan di menit ke-20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Order dibatalkan otomatis jika kadaluarsa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Endpoint /api/orders/auto-cancel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25955"/>
                </a:solidFill>
              </a:rPr>
              <a:t>Konversi mata uang dilakukan real-time di sisi Flutter dengan cache 1 jam — tidak perlu API key di client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Fitur AI &amp; Rekomendasi Cerdas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Google Gemini AI  •  Content-Based Filtering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5955"/>
                </a:solidFill>
              </a:rPr>
              <a:t>🤖  AI Assistant (Gemini)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50292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Powered by Google Gemini Flash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API key diambil dari backend — tidak hardcode di client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System context berisi info lengkap: layanan, harga, cara pesan, kebijakan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Menjawab pertanyaan seputar layanan dalam Bahasa Indonesia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Dipanggil melalui floating action button di seluruh halaman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Fallback message jika API tidak tersedia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5955"/>
                </a:solidFill>
              </a:rPr>
              <a:t>📊  Content-Based Filtering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50292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5349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Setiap layanan direpresentasikan sebagai vektor 8 dimensi: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   [kebersihan, teknis, relaksasi, kendaraan, kasur/sofa,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    harga rendah, harga sedang, harga tinggi]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Histori order user diubah menjadi user profile vector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Cosine Similarity menghitung kecocokan user ↔ layanan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Top-3 layanan yang belum pernah dipesan direkomendasikan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Guest: rekomendasi populer berdasarkan rating tertinggi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Diimplementasi di Flutter (client) DAN di backend Node.js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Manajemen Pesanan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Tracking • Review • Laporan • Notifikasi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Alur Status Pesanan: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2011680" cy="68580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Menunggu
Pembayaran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08483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874519"/>
            <a:ext cx="2011680" cy="685800"/>
          </a:xfrm>
          <a:prstGeom prst="rect">
            <a:avLst/>
          </a:prstGeom>
          <a:solidFill>
            <a:srgbClr val="009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Menunggu
Konfirmasi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8483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874519"/>
            <a:ext cx="2011680" cy="6858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Sedang
Dikerjakan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8483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1874519"/>
            <a:ext cx="201168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Selesai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084831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5955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1874519"/>
            <a:ext cx="201168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Dibatalkan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43200"/>
            <a:ext cx="2651760" cy="338328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834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📋  Riwayat Transaksi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3227832"/>
            <a:ext cx="228600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310128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Daftar semua pesanan user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Filter by status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Detail pesanan lengkap + nama karyawan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Tombol review &amp; laporan per order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743200"/>
            <a:ext cx="2651760" cy="338328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2834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⭐  Review &amp; Rating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5848" y="3227832"/>
            <a:ext cx="228600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3310128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Rating bintang 1–5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Komentar teks bebas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Satu review per order (unique constraint)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Tampil di halaman publik About 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743200"/>
            <a:ext cx="2651760" cy="338328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834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🚨  Laporan / Aduan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3227832"/>
            <a:ext cx="228600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3310128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Deskripsi masalah teks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Upload foto bukti (Base64)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Status: pending → diproses → selesai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Admin bisa update status laporan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743200"/>
            <a:ext cx="2651760" cy="338328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16567" y="28346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🔔  Notifikasi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16567" y="3227832"/>
            <a:ext cx="2286000" cy="36576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6567" y="3310128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Peringatan bayar (menit ke-20)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Pembayaran kadaluarsa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Pesanan dikonfirmasi / dikerjakan / selesai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Pengingat H-1 dan hari-H jadwal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2E"/>
                </a:solidFill>
              </a:rPr>
              <a:t>•  Notifikasi promo untuk guest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Chat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Chat User-Admin  •  Chat Per Order  •  Notifikasi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💬  Live Chat User-Admin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05740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Percakapan real-time antara user &amp; admin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Admin melihat daftar semua room percakapan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Unread count per room chat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Tersimpan di tabel messages (MySQL)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Tampil urut dari pesan terlama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63040"/>
            <a:ext cx="265176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🔧  Chat User-Karyawan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05740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Chat khusus per order (tabel employee_chats)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Sender role: 'user' atau 'employee'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Read-only setelah order selesai/dibatalkan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Karyawan bisa kirim update progress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User bisa konfirmasi detail pekerjaan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🔔  Halaman Notifikasi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05740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Riwayat semua notifikasi tersimpan lokal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Dikelompokkan: Pembayaran, Pesanan, Jadwal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Hapus satu / hapus semua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Badge count di ikon notifikasi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Diperbarui real-time saat notif masuk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463040"/>
            <a:ext cx="265176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🤖  AI Chat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6567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2057400"/>
            <a:ext cx="2423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Bisa diakses dari FAB di semua halaman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Konteks sistem berisi daftar harga &amp; layanan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Quick suggestion pertanyaan umum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Animasi typing indicator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Riwayat chat dalam satu sesi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Fitur Admin &amp; Karyawan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Dashboard Admin  •  Auto-Assign  •  Dashboard Karyawan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57784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5955"/>
                </a:solidFill>
              </a:rPr>
              <a:t>🖥️  Dashboard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50292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5349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Lihat semua pesanan dengan filter &amp; detail lengkap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Konfirmasi pembayaran → ubah status order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Total pendapatan &amp; jumlah pesanan selesai (revenue)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Kelola semua laporan/aduan user + update status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Balas pesan live chat dari semua user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Login khusus admin (username: admin)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Lihat semua evaluasi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466344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5955"/>
                </a:solidFill>
              </a:rPr>
              <a:t>👷  Dashboard Karyawan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50292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5349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Login karyawan via email/password dari tabel employees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Melihat daftar order yang di-assign kepadanya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Update status: Sedang Dikerjakan → Selesai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Chat langsung dengan user per order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Auto-assign: sistem pilih karyawan beban paling ringan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   • Algoritma: hitung load per slot waktu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   • Jika beban sama → random terpilih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</a:rPr>
              <a:t>•     • Kapasitas max 10 order per slot waktu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Fitur Tambahan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8C9B0"/>
                </a:solidFill>
              </a:rPr>
              <a:t>Jam Real-Time  •  Mini Game  •  Profil  •  Evaluasi TPM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9B0"/>
                </a:solidFill>
              </a:rPr>
              <a:t>Bersih.In  •  Teknologi Pemrograman Mobile  •  2025/2026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457200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🕐  Jam Real-Time Multi-Zona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05740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Jam berjalan setiap detik di beranda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4 zona: WIB, WITA, WIT, London (BST)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Dropdown zona waktu, tersimpan di SharedPreferences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Sapaan otomatis (Pagi/Siang/Sore/Malam)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berdasarkan jam zona yang dipilih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63040"/>
            <a:ext cx="2651760" cy="457200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🎮  Mini Game Tersembunyi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05740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Guncang HP di beranda untuk membuka game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Gyroscope untuk gerakkan sapu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5 level, kotoran makin banyak tiap level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Sistem skor +10 per kotoran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Overlay timbul saat shake terdeteksi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457200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👤  Manajemen Profil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05740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Edit username, email, password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Upload foto profil (kompresi + Base64)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Cache foto per-akun (tetap ada post-logout)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Tampilan avatar di AppBar &amp; profil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Hapus akun permanen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463040"/>
            <a:ext cx="2651760" cy="4572000"/>
          </a:xfrm>
          <a:prstGeom prst="rect">
            <a:avLst/>
          </a:prstGeom>
          <a:solidFill>
            <a:srgbClr val="F0F9F8"/>
          </a:solidFill>
          <a:ln w="9525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15544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5955"/>
                </a:solidFill>
              </a:rPr>
              <a:t>📝  Evaluasi TPM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16567" y="1947672"/>
            <a:ext cx="2286000" cy="45720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2057400"/>
            <a:ext cx="2423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Rating bintang 0.5–5.0 (half-star)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Input kesan &amp; saran teks bebas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Ditampilkan di carousel 'Apa Kata Orang'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Hanya untuk user yang sudah login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2E"/>
                </a:solidFill>
              </a:rPr>
              <a:t>•  Submit sekali, bisa isi ulang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5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960120"/>
            <a:ext cx="1371600" cy="1371600"/>
          </a:xfrm>
          <a:prstGeom prst="ellipse">
            <a:avLst/>
          </a:prstGeom>
          <a:solidFill>
            <a:srgbClr val="00909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4572000"/>
            <a:ext cx="1828800" cy="1828800"/>
          </a:xfrm>
          <a:prstGeom prst="ellipse">
            <a:avLst/>
          </a:prstGeom>
          <a:solidFill>
            <a:srgbClr val="00909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457200"/>
            <a:ext cx="914400" cy="914400"/>
          </a:xfrm>
          <a:prstGeom prst="ellipse">
            <a:avLst/>
          </a:prstGeom>
          <a:solidFill>
            <a:srgbClr val="00909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783080"/>
            <a:ext cx="4846320" cy="54864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 Aplikasi mobile lengkap untuk layanan kebersihan hunian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 Arsitektur MVC yang bersih: Flutter + Node.js +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 Fitur AI (Gemini) + Content-Based Filtering rekomendasi layanan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 Multi-role: User, Karyawan, Admin dengan alur kerja terpisah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2336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 Pembayaran multi-metode termasuk valuta asing dengan kurs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 Notifikasi real-time, live chat, laporan, dan review terintegrasi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418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 Fitur unik: jam multi-zona, mini game tersembunyi, biometrik multi-akun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5650992"/>
            <a:ext cx="4846320" cy="54864"/>
          </a:xfrm>
          <a:prstGeom prst="rect">
            <a:avLst/>
          </a:prstGeom>
          <a:solidFill>
            <a:srgbClr val="48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8C9B0"/>
                </a:solidFill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